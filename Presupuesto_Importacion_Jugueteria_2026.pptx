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D5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D5A"/>
                </a:solidFill>
                <a:latin typeface="Arial"/>
              </a:rPr>
              <a:t>Distribución Semáforos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🟢 Verde
Competitivo</c:v>
                  </c:pt>
                  <c:pt idx="1">
                    <c:v>🟡 Amarillo
Ajustar</c:v>
                  </c:pt>
                  <c:pt idx="2">
                    <c:v>🔴 Rojo
No viable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20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D5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D5A"/>
                </a:solidFill>
                <a:latin typeface="Arial"/>
              </a:rPr>
              <a:t>Distribución por Categoría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Artículos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D5A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bubble3D val="0"/>
            <c:spPr>
              <a:solidFill>
                <a:srgbClr val="0EA5E9"/>
              </a:solidFill>
              <a:effectLst/>
            </c:spPr>
          </c:dPt>
          <c:dPt>
            <c:idx val="7"/>
            <c:bubble3D val="0"/>
            <c:spPr>
              <a:solidFill>
                <a:srgbClr val="F97316"/>
              </a:solidFill>
              <a:effectLst/>
            </c:spPr>
          </c:dPt>
          <c:dPt>
            <c:idx val="8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Electrónico/RC</c:v>
                </c:pt>
                <c:pt idx="1">
                  <c:v>Construcción</c:v>
                </c:pt>
                <c:pt idx="2">
                  <c:v>Peluche</c:v>
                </c:pt>
                <c:pt idx="3">
                  <c:v>Muñecas</c:v>
                </c:pt>
                <c:pt idx="4">
                  <c:v>Figuras</c:v>
                </c:pt>
                <c:pt idx="5">
                  <c:v>Juegos Mesa</c:v>
                </c:pt>
                <c:pt idx="6">
                  <c:v>Imitación</c:v>
                </c:pt>
                <c:pt idx="7">
                  <c:v>Outdoor</c:v>
                </c:pt>
                <c:pt idx="8">
                  <c:v>Arte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9</c:v>
                </c:pt>
                <c:pt idx="8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2011680" cy="201168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A623"/>
                </a:solidFill>
              </a:rPr>
              <a:t>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PRESUPUESTO DE IMPORTACIÓN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A623"/>
                </a:solidFill>
              </a:rPr>
              <a:t>Juguetería — Día del Niño 2026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34640" y="2514600"/>
            <a:ext cx="86868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6517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Top 30 artículos  ·  Costeo completo  ·  Comparativo MeLi  ·  Semáforos competitivos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Importadora Mayorista  ·  Fuentes: MeLi · Nubimetrics · Alibaba · Decreto 781/2025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474720"/>
            <a:ext cx="2103120" cy="10058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31 Mar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Fecha del informe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3474720"/>
            <a:ext cx="2103120" cy="10058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 U$S = $1.475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6636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Tipo de cambio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3474720"/>
            <a:ext cx="2103120" cy="10058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Mar–Ago 2025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Período referencia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92640" y="3474720"/>
            <a:ext cx="2103120" cy="10058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16 Ago 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3836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Día del Niño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475488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4846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🏆  Objetivo: mantener nivel GOLD MeLi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8"/>
                </a:solidFill>
              </a:rPr>
              <a:t>MICROBELL S.A. — Importadora Mayorista | Informe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Resumen Ejecutivo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31/03/2026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74320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5720" cy="128016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78992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F7E"/>
                </a:solidFill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1773936"/>
            <a:ext cx="26060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Artículos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analizados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45720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78992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1773936"/>
            <a:ext cx="26060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🟢 VERDE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Competitivos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1280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4572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078992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20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1773936"/>
            <a:ext cx="26060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🟡 AMARILLO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Ajustar FOB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1005840"/>
            <a:ext cx="274320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05840"/>
            <a:ext cx="4572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078992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44000" y="1773936"/>
            <a:ext cx="260604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🔴 ROJO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competitivo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14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514600"/>
            <a:ext cx="45720" cy="118872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87752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F7E"/>
                </a:solidFill>
              </a:rPr>
              <a:t>20%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65760" y="3227832"/>
            <a:ext cx="2606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Arancel DIE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Decreto 781/2025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514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514600"/>
            <a:ext cx="45720" cy="118872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587752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F7E"/>
                </a:solidFill>
              </a:rPr>
              <a:t>×7,65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291840" y="3227832"/>
            <a:ext cx="2606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Multiplicador FOB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hasta Precio MeLi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514600"/>
            <a:ext cx="2743200" cy="1188720"/>
          </a:xfrm>
          <a:prstGeom prst="rect">
            <a:avLst/>
          </a:prstGeom>
          <a:solidFill>
            <a:srgbClr val="F0F4FF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514600"/>
            <a:ext cx="45720" cy="118872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587752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F7E"/>
                </a:solidFill>
              </a:rPr>
              <a:t>×1,35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17920" y="3227832"/>
            <a:ext cx="2606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Factor Costo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Operativo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52560" y="2514600"/>
            <a:ext cx="27432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52560" y="2514600"/>
            <a:ext cx="457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587752"/>
            <a:ext cx="2606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45%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9144000" y="3227832"/>
            <a:ext cx="26060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Margen Mayorista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sobre Costo</a:t>
            </a:r>
            <a:endParaRPr lang="en-US" sz="9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274320" y="384048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2" name="Chart 1" descr=""/>
          <p:cNvGraphicFramePr/>
          <p:nvPr/>
        </p:nvGraphicFramePr>
        <p:xfrm>
          <a:off x="5669280" y="3840480"/>
          <a:ext cx="6217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Investigación de Mercado — Top Categorías Día del Niño Argentina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Fuentes: MeLi · Nubimetrics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914400"/>
            <a:ext cx="1161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Categorías con mayor crecimiento — MercadoLibre Argentina Mar–Ago 2025: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25880"/>
            <a:ext cx="54864" cy="109728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Bloques de Construcción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3F7E"/>
                </a:solidFill>
              </a:rPr>
              <a:t>+95%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~7.200 u.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0756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3F7E"/>
                </a:solidFill>
              </a:rPr>
              <a:t>Bloques magnéticos lidera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Peluches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B5CF6"/>
                </a:solidFill>
              </a:rPr>
              <a:t>+79%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~10.900 u.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310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5CF6"/>
                </a:solidFill>
              </a:rPr>
              <a:t>Labubu, Baby Shark trending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79476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94760"/>
            <a:ext cx="54864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Juegos de Mesa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+63%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~9.300 u.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</a:rPr>
              <a:t>Jenga, memoria, puzzles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502920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5029200"/>
            <a:ext cx="54864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Consolas/Gamer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5074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+41%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11480" y="5486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~5.800 u.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5779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</a:rPr>
              <a:t>Nintendo Switch lidera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132588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1325880"/>
            <a:ext cx="54864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Bicicletas Infantiles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+38%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4652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~8.900 u.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20756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C55E"/>
                </a:solidFill>
              </a:rPr>
              <a:t>Rodado 12 y 16 top ventas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256032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2560320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Muñecas/Figuras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+35%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44652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~10.200 u.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3310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7316"/>
                </a:solidFill>
              </a:rPr>
              <a:t>Reborn, casas, figuras acción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09360" y="379476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09360" y="3794760"/>
            <a:ext cx="54864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Juguetes RC/Electrón.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9264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+29%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44652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~6.700 u.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45445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A5E9"/>
                </a:solidFill>
              </a:rPr>
              <a:t>Drones mini, autos RC 1:18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5029200"/>
            <a:ext cx="57607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309360" y="5029200"/>
            <a:ext cx="54864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5102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5A"/>
                </a:solidFill>
              </a:rPr>
              <a:t>Outdoor/Deportes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692640" y="5074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+25%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446520" y="5486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Est. ventas mayo–ago 2025: ~12.400 u.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46520" y="57790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</a:rPr>
              <a:t>Pelopinchos, toboganes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6281928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</a:rPr>
              <a:t>Fuentes: MercadoLibre.com.ar más vendidos | nubimetrics.com | ElCronista.com | Perfil.com | academia.nubimetrics.com/dia-del-nino-argentina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Estructura de Costos de Importación — Argentina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NCM Cap. 9503 · Decreto 781/2025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1005840"/>
            <a:ext cx="8778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FOB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Precio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fábrica China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0515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×1,07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ajuste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mercado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965960" y="1005840"/>
            <a:ext cx="8778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FOB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Act.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base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cálculo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8803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+13%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+0,5%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Flete+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Seguro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94760" y="1005840"/>
            <a:ext cx="8778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CIF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Cost+Ins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+Freight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+Nac.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+Aranceles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+Impuestos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623560" y="1005840"/>
            <a:ext cx="877824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Val.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Dep.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Valor en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Depósito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5379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×1,35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Costo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Operativo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452360" y="1005840"/>
            <a:ext cx="8778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Costo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Merc.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523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con CO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incluido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3667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×1,45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Margen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45%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281160" y="1005840"/>
            <a:ext cx="8778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811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P.May.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811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Precio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Mayorista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195560" y="1005840"/>
            <a:ext cx="877824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955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×1,80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1955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factor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109960" y="1005840"/>
            <a:ext cx="877824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09960" y="1024128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Precio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MeLi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09960" y="1481328"/>
            <a:ext cx="877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Publicación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final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37160" y="2011680"/>
            <a:ext cx="11887200" cy="4572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2057400"/>
            <a:ext cx="1179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Multiplicador total: FOB → Precio MeLi = ×7,65  |  En ARS: Precio MeLi = FOB × 7,65 × $1.475 = FOB × $11.284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2606040"/>
          <a:ext cx="1188720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822960"/>
                <a:gridCol w="1645920"/>
                <a:gridCol w="48463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Componente de Costo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Norma / Referencia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Flete Marítimo China-ARG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 Actualizado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Tarifa naviera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Seguro Marítimo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 Actualizado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Póliza de carga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Derecho Importación (DIE) ★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Decreto 781/2025 (baj. de 35%)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Tasa Estadística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Decreto 108/2023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Gastos Aduana/Despachante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Honorarios profesionales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IVA Importación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 × 1,23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RECUPERABLE 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AFIP Res. 549/2000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IVA Adicional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 × 1,23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10,5%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RECUPERABLE 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AFIP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Percepción Ganancias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 × 1,23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RECUPERABLE 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RG AFIP 2281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Percepción IIBB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 × 1,23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Ag. percepción prov.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Depósito Fiscal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Tarifa depósito aduanero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Flete a Depósito Microbell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recuperable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Logística terrestre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Shape 48"/>
          <p:cNvSpPr/>
          <p:nvPr/>
        </p:nvSpPr>
        <p:spPr>
          <a:xfrm>
            <a:off x="137160" y="2606040"/>
            <a:ext cx="11887200" cy="329184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8288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3108960" y="2624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709160" y="26243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%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5486400" y="2624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Tipo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086600" y="2624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Norma / Referencia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137160" y="6400800"/>
            <a:ext cx="1188720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82880" y="6419088"/>
            <a:ext cx="1179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40AF"/>
                </a:solidFill>
              </a:rPr>
              <a:t>★ Decreto 781/2025: DIE reducido de 35% a 20% para NCM 9503 (juguetes), vigente 01/11/2025. Items RECUPERABLES: créditos fiscales que se acreditan vs. IVA ventas y anticipos.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Top 30 Artículos — Tabla de Costeo (1/2: #1 a #15)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TC: 1 U$S = $1.475 ARS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14400"/>
          <a:ext cx="11887200" cy="5486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594360"/>
                <a:gridCol w="640080"/>
                <a:gridCol w="640080"/>
                <a:gridCol w="685800"/>
                <a:gridCol w="685800"/>
                <a:gridCol w="685800"/>
                <a:gridCol w="640080"/>
                <a:gridCol w="914400"/>
                <a:gridCol w="914400"/>
                <a:gridCol w="45720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Artículo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U$S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 Act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×1,07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Merc.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P.May.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P.MeLi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U$S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P.MeLi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Mercado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MeLi ARS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 RC 1:18 4WD con Luces LED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9.11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16.29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21.99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31.88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$84.647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$88.000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-3.8%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Helicóptero RC 4 Canales con Giroscopio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6.68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11.94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$62.074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$62.000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+0.1%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Drone Mini Plegable para Niños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8.26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14.77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19.94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28.91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$76.747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$79.000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-2.9%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Robot Interactivo Programable Educativo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12.84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14.57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26.06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35.18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51.01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$135.435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$118.000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+14.8%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Bloques Magnéticos Construcción 100 Piezas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9.10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10.32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18.46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24.92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36.13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$95.933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$95.000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+1.0%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Bloques Encastre 200 Piezas + Ruedas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5.35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14.66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21.25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$56.431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$53.000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+6.5%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STEM Engranajes y Construcción 60 Pzas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4.82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5.47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9.77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13.19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19.13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$50.788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$43.000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+18.1%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Peluche Kawaii Tipo Labubu 25cm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3.75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7.60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10.26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$39.502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$45.000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-12.2%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Peluche Baby Shark 30cm con Sonido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5.10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12.31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17.85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$47.402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$53.000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-10.6%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Muñeca Bebé Reborn 49cm + Accesorios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6.68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11.94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$62.074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$62.000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+0.1%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Casa Muñecas Plegable + 30 Accesorios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14.98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30.40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41.04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59.51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$158.008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$143.000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+10.5%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Figura Acción Superhéroe 30cm Articulada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4.07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4.61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8.25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11.14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16.15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$42.888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+7.2%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Dinosaurios 12 Figuras Realistas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4.82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5.47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9.77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13.19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19.13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$50.788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$52.000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-2.3%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Animales Granja 12 Figuras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$36.116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$35.500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+1.7%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Jenga Madera Natural 54 Piezas XL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$36.116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$31.000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+16.5%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37160" y="914400"/>
            <a:ext cx="11887200" cy="347472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9326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#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" y="9326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Artículo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29000" y="9326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FOB U$S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02336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FOB Act ×1,07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6344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CIF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3035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Val. Dep.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893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Costo Merc.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751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P.May.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36092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P.MeLi U$S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001000" y="932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P.MeLi ARS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915400" y="932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Mercado MeLi ARS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829800" y="932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Dif%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287000" y="9326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Top 30 Artículos — Tabla de Costeo (2/2: #16 a #30)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TC: 1 U$S = $1.475 ARS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14400"/>
          <a:ext cx="11887200" cy="5486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594360"/>
                <a:gridCol w="640080"/>
                <a:gridCol w="640080"/>
                <a:gridCol w="685800"/>
                <a:gridCol w="685800"/>
                <a:gridCol w="685800"/>
                <a:gridCol w="640080"/>
                <a:gridCol w="914400"/>
                <a:gridCol w="914400"/>
                <a:gridCol w="457200"/>
                <a:gridCol w="548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Artículo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U$S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FOB Act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×1,07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Merc.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P.May.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P.MeLi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U$S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P.MeLi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Mercado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MeLi ARS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Dif%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Juego Memoria Cartas 48 Pares Educativo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2.35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2.67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4.78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6.45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9.35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$24.830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$22.500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+10.4%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Puzzle 100 Piezas Personajes Infantiles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2.14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2.43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4.34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8.50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$22.573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+15.8%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Cocina Infantil 15 Accesorios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19.06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27.63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$73.361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$65.000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+12.9%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Herramientas Infantil Madera 10 Pzas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4.82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5.47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9.77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13.19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19.13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$50.788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$44.500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+14.1%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Médico Infantil 14 Piezas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3.75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4.25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7.60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10.26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$39.502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$34.000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+16.2%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Pelopincho Inflable Familiar 180x180cm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10.17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20.63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27.85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$107.219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$96.000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+11.7%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Tobogán Plástico Jardín Infantil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18.19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20.65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36.92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49.84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72.27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$191.866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$193.500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-0.8%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Triciclo con Manija Parental hasta 3 años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20.33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23.07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41.26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55.70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80.77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$214.439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$217.000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-1.2%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Bicicleta Rodado 12 con Rueditas Auxiliares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25.68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29.15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102.02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$270.870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$275.000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-1.5%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Bicicleta Rodado 16 c/Accesorios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32.10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36.43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87.95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127.53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$338.588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$347.000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-2.4%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Patineta Infantil Aluminio y Madera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6.68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11.94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16.12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$62.074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$50.500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+22.9%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Pelota Saltarina Asa Hopper Ball 55cm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4.07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4.61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8.25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11.14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16.15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$42.888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$32.500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+32.0%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Arco de Fútbol Plegable Set x2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6.42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7.29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13.03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17.59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25.51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$67.718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$56.500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+19.9%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Pistola Burbujas Eléctrica Automática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2.80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8.21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11.90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$31.602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$31.000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+1.9%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1E2D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Pinturas Arte 36 Colores Premium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3.20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2A3F7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3.42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3.89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6.95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9.38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37415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13.60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369A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$36.116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$31.000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F44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+16.5%</a:t>
                      </a:r>
                      <a:endParaRPr lang="en-US" sz="7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37160" y="914400"/>
            <a:ext cx="11887200" cy="347472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9326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#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" y="9326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Artículo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29000" y="9326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FOB U$S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02336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FOB Act ×1,07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6344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CIF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3035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Val. Dep.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893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Costo Merc.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75120" y="9326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P.May.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360920" y="9326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P.MeLi U$S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001000" y="932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P.MeLi ARS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915400" y="932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Mercado MeLi ARS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829800" y="93268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Dif%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0287000" y="93268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Sem.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Análisis Competitivo MeLi — Semáforos por Artículo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Objetivo: mantener nivel GOLD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38404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VERDE — Competitivos (9)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17320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 Auto RC 1:18 4WD con Luces LED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34640" y="1435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-3.8%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1618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$84.647 | Merc: $88.000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2880" y="1837944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8562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#3 Drone Mini Plegable para Niños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4640" y="18562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-2.9%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20391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$76.747 | Merc: $79.000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82880" y="2258568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2768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#8 Peluche Kawaii Tipo Labubu 25c…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34640" y="22768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-12.2%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24597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$39.502 | Merc: $45.000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2679192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#9 Peluche Baby Shark 30cm con So…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34640" y="26974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-10.6%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" y="28803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$47.402 | Merc: $53.000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2880" y="3099816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#13 Set Dinosaurios 12 Figuras Rea…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34640" y="31181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-2.3%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6032" y="3300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$50.788 | Merc: $52.000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3520440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3538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#22 Tobogán Plástico Jardín Infant…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34640" y="35387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-0.8%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" y="3721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$191.866 | Merc: $193.500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2880" y="3941064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#23 Triciclo con Manija Parental h…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34640" y="39593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-1.2%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" y="41422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$214.439 | Merc: $217.000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2880" y="4361688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4379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#24 Bicicleta Rodado 12 con Ruedit…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34640" y="4379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-1.5%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" y="4562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$270.870 | Merc: $275.000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82880" y="4782312"/>
            <a:ext cx="384048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4800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#25 Bicicleta Rodado 16 c/Accesori…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834640" y="4800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-2.4%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6032" y="49834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$338.588 | Merc: $347.000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206240" y="914400"/>
            <a:ext cx="3840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196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🟡 AMARILLO — Ajustar (20)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06240" y="1417320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79392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 Helicóptero RC 4 Canales con G…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58000" y="1435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+0.1%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79392" y="1618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$62.074 | Merc: $62.000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206240" y="1837944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18562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#4 Robot Interactivo Programable …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18562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+14.8%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79392" y="20391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$135.435 | Merc: $118.000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206240" y="2258568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9392" y="22768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#5 Bloques Magnéticos Construcció…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58000" y="22768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+1.0%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79392" y="24597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$95.933 | Merc: $95.000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206240" y="2679192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79392" y="2697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#6 Bloques Encastre 200 Piezas + …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858000" y="26974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+6.5%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79392" y="28803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$56.431 | Merc: $53.000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206240" y="3099816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79392" y="3118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#7 Set STEM Engranajes y Construc…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58000" y="31181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+18.1%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279392" y="3300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$50.788 | Merc: $43.000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206240" y="3520440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79392" y="3538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#10 Muñeca Bebé Reborn 49cm + Acce…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58000" y="35387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+0.1%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279392" y="37216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$62.074 | Merc: $62.000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206240" y="3941064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79392" y="39593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#11 Casa Muñecas Plegable + 30 Acc…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858000" y="39593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+10.5%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79392" y="41422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$158.008 | Merc: $143.000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206240" y="4361688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9392" y="43799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#12 Figura Acción Superhéroe 30cm …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858000" y="43799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+7.2%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279392" y="4562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$42.888 | Merc: $40.000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206240" y="4782312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79392" y="4800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#14 Set Animales Granja 12 Figuras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858000" y="4800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+1.7%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279392" y="49834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$36.116 | Merc: $35.500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206240" y="5202936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79392" y="52212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#15 Jenga Madera Natural 54 Piezas…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58000" y="52212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+16.5%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279392" y="5404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$36.116 | Merc: $31.000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206240" y="5623560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79392" y="5641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#16 Juego Memoria Cartas 48 Pares …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858000" y="56418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+10.4%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279392" y="58247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$24.830 | Merc: $22.500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206240" y="6044184"/>
            <a:ext cx="384048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79392" y="6062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#17 Puzzle 100 Piezas Personajes I…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858000" y="60624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+15.8%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279392" y="6245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$22.573 | Merc: $19.500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229600" y="914400"/>
            <a:ext cx="3840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75320" y="932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ROJO — Renegociar (1)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29600" y="1417320"/>
            <a:ext cx="384048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302752" y="1435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D5A"/>
                </a:solidFill>
              </a:rPr>
              <a:t>#27 Pelota Saltarina Asa Hopper Ba…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0881360" y="1435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+32.0%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302752" y="16184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MeLi: $42.888 | Merc: $32.500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182880" y="6400800"/>
            <a:ext cx="1179576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8600" y="6419088"/>
            <a:ext cx="1170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40AF"/>
                </a:solidFill>
              </a:rPr>
              <a:t>Semáforo VERDE: precio propio ≤ mercado. AMARILLO: 0–25% sobre mercado. ROJO: &gt;25% sobre mercado. Precios incluyen costos totales (IVA recuperable incluido).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Recomendaciones Estratégicas para Microbell S.A.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Gold MeLi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576072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54864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033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🟢  Publicar los 9 artículos VERDE de inmediato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" y="14173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Auto RC, Drone, Peluches, Dinosaurios, Bicicletas y Tobogán tienen precio competitivo. Activar publicaciones en MeLi con stock mínimo 200 unidades para garantizar velocidad de venta y mantener Gold.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576072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54864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33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 Negociar FOB de artículos AMARILLO (&gt;18%)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41732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Robot (+14,8%), Set STEM (+18,1%), Pelopincho (+11,7%), Patineta (+22,9%) y Casa Muñecas (+10,5%) requieren renegociar FOB con proveedor chino entre -10% y -15% o ajustar margen mayorista de 45% a 35%.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743200"/>
            <a:ext cx="576072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2743200"/>
            <a:ext cx="54864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163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 Eliminar o replantear artículo ROJO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" y="32004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Pelota Saltarina Hopper Ball (+32%) no es viable sin FOB ≤ U$S 2,50. Reemplazar por combo Pistola Burbujas + Set Pinturas que tienen mejor relación FOB/precio mercado.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5760720" cy="1645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7432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8163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D5A"/>
                </a:solidFill>
              </a:rPr>
              <a:t>🏆  Estrategia para mantener nivel GOLD MeLi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2004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Priorizar artículos VERDE para volumen de ventas. Usar descuentos de hasta 10% en primeras 2 semanas de agosto. Mantener SLA ≤48hs. Activar MercadoEnvíos Plus en categorías outdoor.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4526280"/>
            <a:ext cx="576072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A3F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4526280"/>
            <a:ext cx="54864" cy="164592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5994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F7E"/>
                </a:solidFill>
              </a:rPr>
              <a:t>💰  Oportunidad: excluir IVA del costo base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" y="4983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 excluir impuestos recuperables (IVA+Gcias+IIBB) del costo, el multiplicador FOB→MeLi baja de ×7,65 a ×5,52. Esto convierte 12 artículos AMARILLO en VERDE, mejorando competitividad significativamente.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76072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4526280"/>
            <a:ext cx="54864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45994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📦  Estrategia de volumen por contenedor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81928" y="4983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Consolidar artículos similares en un LCL o FCL 20ft para reducir flete marítimo. Priorizar artículos compactos (bloques, peluches, figuras) que tienen mejor relación volumen/valor FOB.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MICROBELL S.A.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4114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Calendario de Escalabilidad — Importación Día del Niño 16/08/2026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0" y="228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ACCIÓN URGENTE: plazo óptimo vence 15 de Abril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6647688"/>
            <a:ext cx="1179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ADCFC"/>
                </a:solidFill>
              </a:rPr>
              <a:t>MICROBELL S.A. — Presupuesto Importación Juguetería Día del Niño 2026 | Confidencial | TC: 1 U$S = $1.475 ARS | 31/03/2026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4540" y="3086100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31 Mar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Análisis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 decisión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130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HOY 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97024" y="3118104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7480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7-14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Abril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480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Contacto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proveedores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97504" y="3118104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7528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21-28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Abril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7528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Confirmación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órdenes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97984" y="311810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7576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Mayo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7576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China 30-45d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98464" y="3118104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7624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1-10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Junio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7624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Embarque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Shanghai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98944" y="3118104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7672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10-15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Julio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7672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Arribo Pto.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Bs.As.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599424" y="3118104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7720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16-31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Julio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720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Despacho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aduanero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899904" y="311810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7768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1-10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Agosto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7768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Distribución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+ MeLi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168380" y="3086100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678160" y="2286000"/>
            <a:ext cx="130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16 Ago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D5A"/>
                </a:solidFill>
              </a:rPr>
              <a:t>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78160" y="3611880"/>
            <a:ext cx="130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🎉 DÍA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DEL NIÑO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206240"/>
            <a:ext cx="11612880" cy="347472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245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Escenarios de plazo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51760" y="42245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Producción China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42245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Tránsito marítimo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42245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Fecha límite orden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84080" y="422452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Riesgo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17720"/>
            <a:ext cx="116128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72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🟢 Óptimo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51760" y="4672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30 días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0" y="4672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28 días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46725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15 Abril 2026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784080" y="4672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BAJO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5093208"/>
            <a:ext cx="1161288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5148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🟡 Ajustado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651760" y="5148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40 días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0" y="5148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32 días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5148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30 Abril 2026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784080" y="5148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MEDIO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5568696"/>
            <a:ext cx="1161288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🔴 Riesgo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65176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45+ días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2920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35+ días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0664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D5A"/>
                </a:solidFill>
              </a:rPr>
              <a:t>Después 1 Mayo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784080" y="5623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ALTO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6126480"/>
            <a:ext cx="1161288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6144768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⚡ ACCIÓN URGENTE: Hoy es 31 de Marzo 2026. Quedan ~11 días hábiles para confirmar órdenes en el ESCENARIO ÓPTIMO. Iniciar contacto con proveedores chinos ESTA SEMANA para asegurar ventana productiva de Mayo.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Presupuesto Importación Juguetería 2026</dc:title>
  <dc:subject>PptxGenJS Presentation</dc:subject>
  <dc:creator>Microbell S.A.</dc:creator>
  <cp:lastModifiedBy>Microbell S.A.</cp:lastModifiedBy>
  <cp:revision>1</cp:revision>
  <dcterms:created xsi:type="dcterms:W3CDTF">2026-03-31T21:07:17Z</dcterms:created>
  <dcterms:modified xsi:type="dcterms:W3CDTF">2026-03-31T21:07:17Z</dcterms:modified>
</cp:coreProperties>
</file>